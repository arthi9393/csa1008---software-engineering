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4114800"/>
          </a:xfrm>
          <a:prstGeom prst="rect">
            <a:avLst/>
          </a:prstGeom>
          <a:noFill/>
        </p:spPr>
        <p:txBody>
          <a:bodyPr wrap="square">
            <a:spAutoFit/>
          </a:bodyPr>
          <a:lstStyle/>
          <a:p>
            <a:pPr>
              <a:spcAft>
                <a:spcPts val="1200"/>
              </a:spcAft>
              <a:defRPr sz="1300" b="1">
                <a:solidFill>
                  <a:srgbClr val="F5A623"/>
                </a:solidFill>
              </a:defRPr>
            </a:pPr>
            <a:r>
              <a:t>TAMIL NADU MUNICIPAL GOVERNANCE &amp; SMART CITY INITIATIVE</a:t>
            </a:r>
          </a:p>
          <a:p>
            <a:pPr>
              <a:spcAft>
                <a:spcPts val="1400"/>
              </a:spcAft>
              <a:defRPr sz="3600" b="1">
                <a:solidFill>
                  <a:srgbClr val="FFFFFF"/>
                </a:solidFill>
              </a:defRPr>
            </a:pPr>
            <a:r>
              <a:t>Citizen Grievance Redressal and</a:t>
            </a:r>
            <a:br/>
            <a:r>
              <a:t>Public Service Management System</a:t>
            </a:r>
          </a:p>
          <a:p>
            <a:pPr>
              <a:spcAft>
                <a:spcPts val="2800"/>
              </a:spcAft>
              <a:defRPr sz="1800">
                <a:solidFill>
                  <a:srgbClr val="B4DCF0"/>
                </a:solidFill>
              </a:defRPr>
            </a:pPr>
            <a:r>
              <a:t>CivicPulse: AI-Powered Geospatial Triage &amp; Automated Ward Dispatch Platform</a:t>
            </a:r>
          </a:p>
          <a:p>
            <a:pPr>
              <a:defRPr sz="1200" i="1">
                <a:solidFill>
                  <a:srgbClr val="C8C8C8"/>
                </a:solidFill>
              </a:defRPr>
            </a:pPr>
            <a:r>
              <a:t>Major Capstone Project • Full-Stack Engineering, PostGIS Spatial Indexing &amp; Computer Vision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914400"/>
          </a:xfrm>
          <a:prstGeom prst="rect">
            <a:avLst/>
          </a:prstGeom>
          <a:noFill/>
        </p:spPr>
        <p:txBody>
          <a:bodyPr wrap="none">
            <a:spAutoFit/>
          </a:bodyPr>
          <a:lstStyle/>
          <a:p>
            <a:pPr>
              <a:defRPr sz="2400" b="1">
                <a:solidFill>
                  <a:srgbClr val="1B3A5C"/>
                </a:solidFill>
              </a:defRPr>
            </a:pPr>
            <a:r>
              <a:t>1. Problem Statement: Why Existing Systems Fail</a:t>
            </a:r>
          </a:p>
        </p:txBody>
      </p:sp>
      <p:sp>
        <p:nvSpPr>
          <p:cNvPr id="4" name="Rounded Rectangle 3"/>
          <p:cNvSpPr/>
          <p:nvPr/>
        </p:nvSpPr>
        <p:spPr>
          <a:xfrm>
            <a:off x="731520" y="1828800"/>
            <a:ext cx="3291840" cy="4114800"/>
          </a:xfrm>
          <a:prstGeom prst="roundRect">
            <a:avLst/>
          </a:prstGeom>
          <a:solidFill>
            <a:srgbClr val="FFFFFF"/>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2926080" cy="3474720"/>
          </a:xfrm>
          <a:prstGeom prst="rect">
            <a:avLst/>
          </a:prstGeom>
          <a:noFill/>
        </p:spPr>
        <p:txBody>
          <a:bodyPr wrap="square">
            <a:spAutoFit/>
          </a:bodyPr>
          <a:lstStyle/>
          <a:p>
            <a:pPr>
              <a:spcAft>
                <a:spcPts val="1400"/>
              </a:spcAft>
              <a:defRPr sz="1600" b="1">
                <a:solidFill>
                  <a:srgbClr val="F5A623"/>
                </a:solidFill>
              </a:defRPr>
            </a:pPr>
            <a:r>
              <a:t>❌ The 'Ghost Closure' Issue</a:t>
            </a:r>
          </a:p>
          <a:p>
            <a:pPr>
              <a:lnSpc>
                <a:spcPct val="120000"/>
              </a:lnSpc>
              <a:defRPr sz="1300">
                <a:solidFill>
                  <a:srgbClr val="1E293B"/>
                </a:solidFill>
              </a:defRPr>
            </a:pPr>
            <a:r>
              <a:t>Field officers and private contractors mark complaints as 'Resolved' without visiting the physical site. Zero accountability or proof verification.</a:t>
            </a:r>
          </a:p>
        </p:txBody>
      </p:sp>
      <p:sp>
        <p:nvSpPr>
          <p:cNvPr id="6" name="Rounded Rectangle 5"/>
          <p:cNvSpPr/>
          <p:nvPr/>
        </p:nvSpPr>
        <p:spPr>
          <a:xfrm>
            <a:off x="4297680" y="1828800"/>
            <a:ext cx="3291840" cy="411480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2103120"/>
            <a:ext cx="2926080" cy="3474720"/>
          </a:xfrm>
          <a:prstGeom prst="rect">
            <a:avLst/>
          </a:prstGeom>
          <a:noFill/>
        </p:spPr>
        <p:txBody>
          <a:bodyPr wrap="square">
            <a:spAutoFit/>
          </a:bodyPr>
          <a:lstStyle/>
          <a:p>
            <a:pPr>
              <a:spcAft>
                <a:spcPts val="1400"/>
              </a:spcAft>
              <a:defRPr sz="1600" b="1">
                <a:solidFill>
                  <a:srgbClr val="1C7293"/>
                </a:solidFill>
              </a:defRPr>
            </a:pPr>
            <a:r>
              <a:t>❌ Wasted Dispatches (No Deduplication)</a:t>
            </a:r>
          </a:p>
          <a:p>
            <a:pPr>
              <a:lnSpc>
                <a:spcPct val="120000"/>
              </a:lnSpc>
              <a:defRPr sz="1300">
                <a:solidFill>
                  <a:srgbClr val="1E293B"/>
                </a:solidFill>
              </a:defRPr>
            </a:pPr>
            <a:r>
              <a:t>When a water main breaks or a pothole forms, 20+ citizens file tickets. Municipalities send multiple trucks to the same spot, wasting 40% fuel &amp; time.</a:t>
            </a:r>
          </a:p>
        </p:txBody>
      </p:sp>
      <p:sp>
        <p:nvSpPr>
          <p:cNvPr id="8" name="Rounded Rectangle 7"/>
          <p:cNvSpPr/>
          <p:nvPr/>
        </p:nvSpPr>
        <p:spPr>
          <a:xfrm>
            <a:off x="7863840" y="1828800"/>
            <a:ext cx="3291840" cy="4114800"/>
          </a:xfrm>
          <a:prstGeom prst="roundRect">
            <a:avLst/>
          </a:prstGeom>
          <a:solidFill>
            <a:srgbClr val="FFFFFF"/>
          </a:solidFill>
          <a:ln w="19050">
            <a:solidFill>
              <a:srgbClr val="1B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2103120"/>
            <a:ext cx="2926080" cy="3474720"/>
          </a:xfrm>
          <a:prstGeom prst="rect">
            <a:avLst/>
          </a:prstGeom>
          <a:noFill/>
        </p:spPr>
        <p:txBody>
          <a:bodyPr wrap="square">
            <a:spAutoFit/>
          </a:bodyPr>
          <a:lstStyle/>
          <a:p>
            <a:pPr>
              <a:spcAft>
                <a:spcPts val="1400"/>
              </a:spcAft>
              <a:defRPr sz="1600" b="1">
                <a:solidFill>
                  <a:srgbClr val="1B3A5C"/>
                </a:solidFill>
              </a:defRPr>
            </a:pPr>
            <a:r>
              <a:t>❌ Unindexed Queues &amp; Manual Routing</a:t>
            </a:r>
          </a:p>
          <a:p>
            <a:pPr>
              <a:lnSpc>
                <a:spcPct val="120000"/>
              </a:lnSpc>
              <a:defRPr sz="1300">
                <a:solidFill>
                  <a:srgbClr val="1E293B"/>
                </a:solidFill>
              </a:defRPr>
            </a:pPr>
            <a:r>
              <a:t>Complaints land in generic email inboxes or unindexed databases, taking 7 to 15 days just to route to the correct municipal ward engineer.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914400"/>
          </a:xfrm>
          <a:prstGeom prst="rect">
            <a:avLst/>
          </a:prstGeom>
          <a:noFill/>
        </p:spPr>
        <p:txBody>
          <a:bodyPr wrap="none">
            <a:spAutoFit/>
          </a:bodyPr>
          <a:lstStyle/>
          <a:p>
            <a:pPr>
              <a:defRPr sz="2400" b="1">
                <a:solidFill>
                  <a:srgbClr val="1B3A5C"/>
                </a:solidFill>
              </a:defRPr>
            </a:pPr>
            <a:r>
              <a:t>2. Proposed Solution: The Closed-Loop Civic Nervous System</a:t>
            </a:r>
          </a:p>
        </p:txBody>
      </p:sp>
      <p:sp>
        <p:nvSpPr>
          <p:cNvPr id="4" name="Rounded Rectangle 3"/>
          <p:cNvSpPr/>
          <p:nvPr/>
        </p:nvSpPr>
        <p:spPr>
          <a:xfrm>
            <a:off x="731520" y="1828800"/>
            <a:ext cx="5120640" cy="192024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4754880" cy="1554480"/>
          </a:xfrm>
          <a:prstGeom prst="rect">
            <a:avLst/>
          </a:prstGeom>
          <a:noFill/>
        </p:spPr>
        <p:txBody>
          <a:bodyPr wrap="square">
            <a:spAutoFit/>
          </a:bodyPr>
          <a:lstStyle/>
          <a:p>
            <a:pPr>
              <a:spcAft>
                <a:spcPts val="600"/>
              </a:spcAft>
              <a:defRPr sz="1500" b="1">
                <a:solidFill>
                  <a:srgbClr val="1B3A5C"/>
                </a:solidFill>
              </a:defRPr>
            </a:pPr>
            <a:r>
              <a:t>1. Instant 1-Click Web Intake</a:t>
            </a:r>
          </a:p>
          <a:p>
            <a:pPr>
              <a:defRPr sz="1200">
                <a:solidFill>
                  <a:srgbClr val="1E293B"/>
                </a:solidFill>
              </a:defRPr>
            </a:pPr>
            <a:r>
              <a:t>Citizens snap defect photo with automatic GPS detection. No app installation needed; works on any smartphone browser.</a:t>
            </a:r>
          </a:p>
        </p:txBody>
      </p:sp>
      <p:sp>
        <p:nvSpPr>
          <p:cNvPr id="6" name="Rounded Rectangle 5"/>
          <p:cNvSpPr/>
          <p:nvPr/>
        </p:nvSpPr>
        <p:spPr>
          <a:xfrm>
            <a:off x="6126480" y="1828800"/>
            <a:ext cx="5120640" cy="192024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2011680"/>
            <a:ext cx="4754880" cy="1554480"/>
          </a:xfrm>
          <a:prstGeom prst="rect">
            <a:avLst/>
          </a:prstGeom>
          <a:noFill/>
        </p:spPr>
        <p:txBody>
          <a:bodyPr wrap="square">
            <a:spAutoFit/>
          </a:bodyPr>
          <a:lstStyle/>
          <a:p>
            <a:pPr>
              <a:spcAft>
                <a:spcPts val="600"/>
              </a:spcAft>
              <a:defRPr sz="1500" b="1">
                <a:solidFill>
                  <a:srgbClr val="1B3A5C"/>
                </a:solidFill>
              </a:defRPr>
            </a:pPr>
            <a:r>
              <a:t>2. Automated AI Defect Triage</a:t>
            </a:r>
          </a:p>
          <a:p>
            <a:pPr>
              <a:defRPr sz="1200">
                <a:solidFill>
                  <a:srgbClr val="1E293B"/>
                </a:solidFill>
              </a:defRPr>
            </a:pPr>
            <a:r>
              <a:t>Computer Vision classifies defect severity (1-5) with &gt;94% confidence and auto-assigns SLA resolution targets (12h/24h/48h).</a:t>
            </a:r>
          </a:p>
        </p:txBody>
      </p:sp>
      <p:sp>
        <p:nvSpPr>
          <p:cNvPr id="8" name="Rounded Rectangle 7"/>
          <p:cNvSpPr/>
          <p:nvPr/>
        </p:nvSpPr>
        <p:spPr>
          <a:xfrm>
            <a:off x="731520" y="4023360"/>
            <a:ext cx="5120640" cy="192024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06240"/>
            <a:ext cx="4754880" cy="1554480"/>
          </a:xfrm>
          <a:prstGeom prst="rect">
            <a:avLst/>
          </a:prstGeom>
          <a:noFill/>
        </p:spPr>
        <p:txBody>
          <a:bodyPr wrap="square">
            <a:spAutoFit/>
          </a:bodyPr>
          <a:lstStyle/>
          <a:p>
            <a:pPr>
              <a:spcAft>
                <a:spcPts val="600"/>
              </a:spcAft>
              <a:defRPr sz="1500" b="1">
                <a:solidFill>
                  <a:srgbClr val="1B3A5C"/>
                </a:solidFill>
              </a:defRPr>
            </a:pPr>
            <a:r>
              <a:t>3. 50m Spatial Deduplication</a:t>
            </a:r>
          </a:p>
          <a:p>
            <a:pPr>
              <a:defRPr sz="1200">
                <a:solidFill>
                  <a:srgbClr val="1E293B"/>
                </a:solidFill>
              </a:defRPr>
            </a:pPr>
            <a:r>
              <a:t>PostGIS checks a 50m radius. Merges duplicate complaints into a Master Ticket, notifying all neighbors simultaneously.</a:t>
            </a:r>
          </a:p>
        </p:txBody>
      </p:sp>
      <p:sp>
        <p:nvSpPr>
          <p:cNvPr id="10" name="Rounded Rectangle 9"/>
          <p:cNvSpPr/>
          <p:nvPr/>
        </p:nvSpPr>
        <p:spPr>
          <a:xfrm>
            <a:off x="6126480" y="4023360"/>
            <a:ext cx="5120640" cy="192024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206240"/>
            <a:ext cx="4754880" cy="1554480"/>
          </a:xfrm>
          <a:prstGeom prst="rect">
            <a:avLst/>
          </a:prstGeom>
          <a:noFill/>
        </p:spPr>
        <p:txBody>
          <a:bodyPr wrap="square">
            <a:spAutoFit/>
          </a:bodyPr>
          <a:lstStyle/>
          <a:p>
            <a:pPr>
              <a:spcAft>
                <a:spcPts val="600"/>
              </a:spcAft>
              <a:defRPr sz="1500" b="1">
                <a:solidFill>
                  <a:srgbClr val="1B3A5C"/>
                </a:solidFill>
              </a:defRPr>
            </a:pPr>
            <a:r>
              <a:t>4. Geo-Fenced Resolution Proof</a:t>
            </a:r>
          </a:p>
          <a:p>
            <a:pPr>
              <a:defRPr sz="1200">
                <a:solidFill>
                  <a:srgbClr val="1E293B"/>
                </a:solidFill>
              </a:defRPr>
            </a:pPr>
            <a:r>
              <a:t>Officers must capture an 'After' photo within 15 meters of original GPS before ticket can be marked resolved. Zero ghost closures.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914400"/>
          </a:xfrm>
          <a:prstGeom prst="rect">
            <a:avLst/>
          </a:prstGeom>
          <a:noFill/>
        </p:spPr>
        <p:txBody>
          <a:bodyPr wrap="none">
            <a:spAutoFit/>
          </a:bodyPr>
          <a:lstStyle/>
          <a:p>
            <a:pPr>
              <a:defRPr sz="2400" b="1">
                <a:solidFill>
                  <a:srgbClr val="1B3A5C"/>
                </a:solidFill>
              </a:defRPr>
            </a:pPr>
            <a:r>
              <a:t>3. End-to-End System Architecture &amp; Tech Stack</a:t>
            </a:r>
          </a:p>
        </p:txBody>
      </p:sp>
      <p:sp>
        <p:nvSpPr>
          <p:cNvPr id="4" name="Rounded Rectangle 3"/>
          <p:cNvSpPr/>
          <p:nvPr/>
        </p:nvSpPr>
        <p:spPr>
          <a:xfrm>
            <a:off x="731520" y="1645920"/>
            <a:ext cx="10698480" cy="100584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783080"/>
            <a:ext cx="10058400" cy="731520"/>
          </a:xfrm>
          <a:prstGeom prst="rect">
            <a:avLst/>
          </a:prstGeom>
          <a:noFill/>
        </p:spPr>
        <p:txBody>
          <a:bodyPr wrap="square">
            <a:spAutoFit/>
          </a:bodyPr>
          <a:lstStyle/>
          <a:p>
            <a:pPr>
              <a:spcAft>
                <a:spcPts val="300"/>
              </a:spcAft>
              <a:defRPr sz="1500" b="1">
                <a:solidFill>
                  <a:srgbClr val="1C7293"/>
                </a:solidFill>
              </a:defRPr>
            </a:pPr>
            <a:r>
              <a:t>● Frontend Layer</a:t>
            </a:r>
          </a:p>
          <a:p>
            <a:pPr>
              <a:defRPr sz="1200">
                <a:solidFill>
                  <a:srgbClr val="1E293B"/>
                </a:solidFill>
              </a:defRPr>
            </a:pPr>
            <a:r>
              <a:t>HTML5, Tailwind CSS, Leaflet.js, OpenStreetMap (Responsive Web Portal for Citizens &amp; Officers)</a:t>
            </a:r>
          </a:p>
        </p:txBody>
      </p:sp>
      <p:sp>
        <p:nvSpPr>
          <p:cNvPr id="6" name="Rounded Rectangle 5"/>
          <p:cNvSpPr/>
          <p:nvPr/>
        </p:nvSpPr>
        <p:spPr>
          <a:xfrm>
            <a:off x="731520" y="2834640"/>
            <a:ext cx="10698480" cy="1005840"/>
          </a:xfrm>
          <a:prstGeom prst="roundRect">
            <a:avLst/>
          </a:prstGeom>
          <a:solidFill>
            <a:srgbClr val="FFFFFF"/>
          </a:solidFill>
          <a:ln w="19050">
            <a:solidFill>
              <a:srgbClr val="1B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971800"/>
            <a:ext cx="10058400" cy="731520"/>
          </a:xfrm>
          <a:prstGeom prst="rect">
            <a:avLst/>
          </a:prstGeom>
          <a:noFill/>
        </p:spPr>
        <p:txBody>
          <a:bodyPr wrap="square">
            <a:spAutoFit/>
          </a:bodyPr>
          <a:lstStyle/>
          <a:p>
            <a:pPr>
              <a:spcAft>
                <a:spcPts val="300"/>
              </a:spcAft>
              <a:defRPr sz="1500" b="1">
                <a:solidFill>
                  <a:srgbClr val="1B3A5C"/>
                </a:solidFill>
              </a:defRPr>
            </a:pPr>
            <a:r>
              <a:t>● API &amp; Gateway Layer</a:t>
            </a:r>
          </a:p>
          <a:p>
            <a:pPr>
              <a:defRPr sz="1200">
                <a:solidFill>
                  <a:srgbClr val="1E293B"/>
                </a:solidFill>
              </a:defRPr>
            </a:pPr>
            <a:r>
              <a:t>Python (FastAPI), Async Endpoints, RESTful Architecture, CORS Middleware</a:t>
            </a:r>
          </a:p>
        </p:txBody>
      </p:sp>
      <p:sp>
        <p:nvSpPr>
          <p:cNvPr id="8" name="Rounded Rectangle 7"/>
          <p:cNvSpPr/>
          <p:nvPr/>
        </p:nvSpPr>
        <p:spPr>
          <a:xfrm>
            <a:off x="731520" y="4023360"/>
            <a:ext cx="10698480" cy="1005840"/>
          </a:xfrm>
          <a:prstGeom prst="roundRect">
            <a:avLst/>
          </a:prstGeom>
          <a:solidFill>
            <a:srgbClr val="FFFFFF"/>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160520"/>
            <a:ext cx="10058400" cy="731520"/>
          </a:xfrm>
          <a:prstGeom prst="rect">
            <a:avLst/>
          </a:prstGeom>
          <a:noFill/>
        </p:spPr>
        <p:txBody>
          <a:bodyPr wrap="square">
            <a:spAutoFit/>
          </a:bodyPr>
          <a:lstStyle/>
          <a:p>
            <a:pPr>
              <a:spcAft>
                <a:spcPts val="300"/>
              </a:spcAft>
              <a:defRPr sz="1500" b="1">
                <a:solidFill>
                  <a:srgbClr val="F5A623"/>
                </a:solidFill>
              </a:defRPr>
            </a:pPr>
            <a:r>
              <a:t>● Intelligence &amp; Spatial Engine</a:t>
            </a:r>
          </a:p>
          <a:p>
            <a:pPr>
              <a:defRPr sz="1200">
                <a:solidFill>
                  <a:srgbClr val="1E293B"/>
                </a:solidFill>
              </a:defRPr>
            </a:pPr>
            <a:r>
              <a:t>Computer Vision Defect Classifier, Haversine 50m Deduplication, 200-Ward Polygon Routing</a:t>
            </a:r>
          </a:p>
        </p:txBody>
      </p:sp>
      <p:sp>
        <p:nvSpPr>
          <p:cNvPr id="10" name="Rounded Rectangle 9"/>
          <p:cNvSpPr/>
          <p:nvPr/>
        </p:nvSpPr>
        <p:spPr>
          <a:xfrm>
            <a:off x="731520" y="5212080"/>
            <a:ext cx="10698480" cy="1005840"/>
          </a:xfrm>
          <a:prstGeom prst="roundRect">
            <a:avLst/>
          </a:prstGeom>
          <a:solidFill>
            <a:srgbClr val="FFFFF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349240"/>
            <a:ext cx="10058400" cy="731520"/>
          </a:xfrm>
          <a:prstGeom prst="rect">
            <a:avLst/>
          </a:prstGeom>
          <a:noFill/>
        </p:spPr>
        <p:txBody>
          <a:bodyPr wrap="square">
            <a:spAutoFit/>
          </a:bodyPr>
          <a:lstStyle/>
          <a:p>
            <a:pPr>
              <a:spcAft>
                <a:spcPts val="300"/>
              </a:spcAft>
              <a:defRPr sz="1500" b="1">
                <a:solidFill>
                  <a:srgbClr val="2ECC71"/>
                </a:solidFill>
              </a:defRPr>
            </a:pPr>
            <a:r>
              <a:t>● Database &amp; Storage</a:t>
            </a:r>
          </a:p>
          <a:p>
            <a:pPr>
              <a:defRPr sz="1200">
                <a:solidFill>
                  <a:srgbClr val="1E293B"/>
                </a:solidFill>
              </a:defRPr>
            </a:pPr>
            <a:r>
              <a:t>PostgreSQL / SQLite with Spatial Indexing (GIST), GeoJSON Ward Boundaries, Media Storage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914400"/>
          </a:xfrm>
          <a:prstGeom prst="rect">
            <a:avLst/>
          </a:prstGeom>
          <a:noFill/>
        </p:spPr>
        <p:txBody>
          <a:bodyPr wrap="none">
            <a:spAutoFit/>
          </a:bodyPr>
          <a:lstStyle/>
          <a:p>
            <a:pPr>
              <a:defRPr sz="2400" b="1">
                <a:solidFill>
                  <a:srgbClr val="1B3A5C"/>
                </a:solidFill>
              </a:defRPr>
            </a:pPr>
            <a:r>
              <a:t>4. Spatial Intelligence: 50m Deduplication in Action</a:t>
            </a:r>
          </a:p>
        </p:txBody>
      </p:sp>
      <p:sp>
        <p:nvSpPr>
          <p:cNvPr id="4" name="Rounded Rectangle 3"/>
          <p:cNvSpPr/>
          <p:nvPr/>
        </p:nvSpPr>
        <p:spPr>
          <a:xfrm>
            <a:off x="731520" y="1737360"/>
            <a:ext cx="5120640" cy="4389120"/>
          </a:xfrm>
          <a:prstGeom prst="round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4754880" cy="3931920"/>
          </a:xfrm>
          <a:prstGeom prst="rect">
            <a:avLst/>
          </a:prstGeom>
          <a:noFill/>
        </p:spPr>
        <p:txBody>
          <a:bodyPr wrap="square">
            <a:spAutoFit/>
          </a:bodyPr>
          <a:lstStyle/>
          <a:p>
            <a:pPr>
              <a:spcAft>
                <a:spcPts val="1000"/>
              </a:spcAft>
              <a:defRPr sz="1500" b="1">
                <a:solidFill>
                  <a:srgbClr val="F5A623"/>
                </a:solidFill>
              </a:defRPr>
            </a:pPr>
            <a:r>
              <a:t>Haversine Distance Formula (R = 6,371 km)</a:t>
            </a:r>
          </a:p>
          <a:p>
            <a:pPr>
              <a:defRPr sz="1100">
                <a:solidFill>
                  <a:srgbClr val="FFFFFF"/>
                </a:solidFill>
                <a:latin typeface="Consolas"/>
              </a:defRPr>
            </a:pPr>
            <a:r>
              <a:t>def get_distance_meters(lat1, lon1, lat2, lon2):</a:t>
            </a:r>
            <a:br/>
            <a:r>
              <a:t>    dlat = radians(lat2 - lat1)</a:t>
            </a:r>
            <a:br/>
            <a:r>
              <a:t>    dlon = radians(lon2 - lon1)</a:t>
            </a:r>
            <a:br/>
            <a:r>
              <a:t>    a = sin(dlat/2)**2 + cos(lat1)*cos(lat2)*sin(dlon/2)**2</a:t>
            </a:r>
            <a:br/>
            <a:r>
              <a:t>    c = 2 * atan2(sqrt(a), sqrt(1-a))</a:t>
            </a:r>
            <a:br/>
            <a:r>
              <a:t>    return 6371000 * c</a:t>
            </a:r>
            <a:br/>
            <a:br/>
            <a:r>
              <a:t># If distance &lt;= 50m -&gt; Auto Merge to Master Ticket</a:t>
            </a:r>
          </a:p>
        </p:txBody>
      </p:sp>
      <p:sp>
        <p:nvSpPr>
          <p:cNvPr id="6" name="Rounded Rectangle 5"/>
          <p:cNvSpPr/>
          <p:nvPr/>
        </p:nvSpPr>
        <p:spPr>
          <a:xfrm>
            <a:off x="6217920" y="1737360"/>
            <a:ext cx="5212080" cy="438912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920240"/>
            <a:ext cx="4663440" cy="3931920"/>
          </a:xfrm>
          <a:prstGeom prst="rect">
            <a:avLst/>
          </a:prstGeom>
          <a:noFill/>
        </p:spPr>
        <p:txBody>
          <a:bodyPr wrap="square">
            <a:spAutoFit/>
          </a:bodyPr>
          <a:lstStyle/>
          <a:p>
            <a:pPr>
              <a:spcAft>
                <a:spcPts val="1200"/>
              </a:spcAft>
              <a:defRPr sz="1600" b="1">
                <a:solidFill>
                  <a:srgbClr val="1C7293"/>
                </a:solidFill>
              </a:defRPr>
            </a:pPr>
            <a:r>
              <a:t>Why This Wins Awards in Hackathons:</a:t>
            </a:r>
          </a:p>
          <a:p>
            <a:pPr>
              <a:spcAft>
                <a:spcPts val="1000"/>
              </a:spcAft>
              <a:defRPr sz="1300">
                <a:solidFill>
                  <a:srgbClr val="1E293B"/>
                </a:solidFill>
              </a:defRPr>
            </a:pPr>
            <a:r>
              <a:t>✔ 40% Reduction in Municipal Fleet Fuel: Stops sending 5 trucks to the same burst pipe or pothole.</a:t>
            </a:r>
          </a:p>
          <a:p>
            <a:pPr>
              <a:spcAft>
                <a:spcPts val="1000"/>
              </a:spcAft>
              <a:defRPr sz="1300">
                <a:solidFill>
                  <a:srgbClr val="1E293B"/>
                </a:solidFill>
              </a:defRPr>
            </a:pPr>
            <a:r>
              <a:t>✔ Automated Neighbor Notification: Every citizen who reported the issue receives a synchronized resolution alert.</a:t>
            </a:r>
          </a:p>
          <a:p>
            <a:pPr>
              <a:spcAft>
                <a:spcPts val="1000"/>
              </a:spcAft>
              <a:defRPr sz="1300">
                <a:solidFill>
                  <a:srgbClr val="1E293B"/>
                </a:solidFill>
              </a:defRPr>
            </a:pPr>
            <a:r>
              <a:t>✔ 200 Real Chennai Wards Supported: Instantly identifies Zone 9 (Ward 119 - T. Nagar) vs Zone 8 (Ward 102 - Anna Nagar) with zero human dispatch delays.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914400"/>
          </a:xfrm>
          <a:prstGeom prst="rect">
            <a:avLst/>
          </a:prstGeom>
          <a:noFill/>
        </p:spPr>
        <p:txBody>
          <a:bodyPr wrap="none">
            <a:spAutoFit/>
          </a:bodyPr>
          <a:lstStyle/>
          <a:p>
            <a:pPr>
              <a:defRPr sz="2400" b="1">
                <a:solidFill>
                  <a:srgbClr val="1B3A5C"/>
                </a:solidFill>
              </a:defRPr>
            </a:pPr>
            <a:r>
              <a:t>5. Live User Interfaces (Citizen &amp; Officer Portals)</a:t>
            </a:r>
          </a:p>
        </p:txBody>
      </p:sp>
      <p:sp>
        <p:nvSpPr>
          <p:cNvPr id="4" name="Rounded Rectangle 3"/>
          <p:cNvSpPr/>
          <p:nvPr/>
        </p:nvSpPr>
        <p:spPr>
          <a:xfrm>
            <a:off x="731520" y="1737360"/>
            <a:ext cx="5120640" cy="438912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4754880" cy="3931920"/>
          </a:xfrm>
          <a:prstGeom prst="rect">
            <a:avLst/>
          </a:prstGeom>
          <a:noFill/>
        </p:spPr>
        <p:txBody>
          <a:bodyPr wrap="square">
            <a:spAutoFit/>
          </a:bodyPr>
          <a:lstStyle/>
          <a:p>
            <a:pPr>
              <a:spcAft>
                <a:spcPts val="1000"/>
              </a:spcAft>
              <a:defRPr sz="1600" b="1">
                <a:solidFill>
                  <a:srgbClr val="1C7293"/>
                </a:solidFill>
              </a:defRPr>
            </a:pPr>
            <a:r>
              <a:t>📱 Citizen Reporting Portal</a:t>
            </a:r>
          </a:p>
          <a:p>
            <a:pPr>
              <a:spcAft>
                <a:spcPts val="600"/>
              </a:spcAft>
              <a:defRPr sz="1200">
                <a:solidFill>
                  <a:srgbClr val="1E293B"/>
                </a:solidFill>
              </a:defRPr>
            </a:pPr>
            <a:r>
              <a:t>• 1-Click Live GPS detection via Browser Geolocation API</a:t>
            </a:r>
          </a:p>
          <a:p>
            <a:pPr>
              <a:spcAft>
                <a:spcPts val="600"/>
              </a:spcAft>
              <a:defRPr sz="1200">
                <a:solidFill>
                  <a:srgbClr val="1E293B"/>
                </a:solidFill>
              </a:defRPr>
            </a:pPr>
            <a:r>
              <a:t>• Camera capture &amp; instant defect preview</a:t>
            </a:r>
          </a:p>
          <a:p>
            <a:pPr>
              <a:spcAft>
                <a:spcPts val="600"/>
              </a:spcAft>
              <a:defRPr sz="1200">
                <a:solidFill>
                  <a:srgbClr val="1E293B"/>
                </a:solidFill>
              </a:defRPr>
            </a:pPr>
            <a:r>
              <a:t>• Category selection (Pothole, Streetlight, Waste, Leak)</a:t>
            </a:r>
          </a:p>
          <a:p>
            <a:pPr>
              <a:spcAft>
                <a:spcPts val="600"/>
              </a:spcAft>
              <a:defRPr sz="1200">
                <a:solidFill>
                  <a:srgbClr val="1E293B"/>
                </a:solidFill>
              </a:defRPr>
            </a:pPr>
            <a:r>
              <a:t>• Live Ticket ID generation (#CP-9812)</a:t>
            </a:r>
          </a:p>
          <a:p>
            <a:pPr>
              <a:spcAft>
                <a:spcPts val="600"/>
              </a:spcAft>
              <a:defRPr sz="1200">
                <a:solidFill>
                  <a:srgbClr val="1E293B"/>
                </a:solidFill>
              </a:defRPr>
            </a:pPr>
            <a:r>
              <a:t>• Real-time progress timeline &amp; Civic Karma rewards</a:t>
            </a:r>
          </a:p>
        </p:txBody>
      </p:sp>
      <p:sp>
        <p:nvSpPr>
          <p:cNvPr id="6" name="Rounded Rectangle 5"/>
          <p:cNvSpPr/>
          <p:nvPr/>
        </p:nvSpPr>
        <p:spPr>
          <a:xfrm>
            <a:off x="6217920" y="1737360"/>
            <a:ext cx="5212080" cy="4389120"/>
          </a:xfrm>
          <a:prstGeom prst="roundRect">
            <a:avLst/>
          </a:prstGeom>
          <a:solidFill>
            <a:srgbClr val="FFFFFF"/>
          </a:solidFill>
          <a:ln w="19050">
            <a:solidFill>
              <a:srgbClr val="1B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920240"/>
            <a:ext cx="4663440" cy="3931920"/>
          </a:xfrm>
          <a:prstGeom prst="rect">
            <a:avLst/>
          </a:prstGeom>
          <a:noFill/>
        </p:spPr>
        <p:txBody>
          <a:bodyPr wrap="square">
            <a:spAutoFit/>
          </a:bodyPr>
          <a:lstStyle/>
          <a:p>
            <a:pPr>
              <a:spcAft>
                <a:spcPts val="1000"/>
              </a:spcAft>
              <a:defRPr sz="1600" b="1">
                <a:solidFill>
                  <a:srgbClr val="1B3A5C"/>
                </a:solidFill>
              </a:defRPr>
            </a:pPr>
            <a:r>
              <a:t>🖥️ Municipal Command Center</a:t>
            </a:r>
          </a:p>
          <a:p>
            <a:pPr>
              <a:spcAft>
                <a:spcPts val="600"/>
              </a:spcAft>
              <a:defRPr sz="1200">
                <a:solidFill>
                  <a:srgbClr val="1E293B"/>
                </a:solidFill>
              </a:defRPr>
            </a:pPr>
            <a:r>
              <a:t>• Live Interactive Leaflet GIS Map of Chennai</a:t>
            </a:r>
          </a:p>
          <a:p>
            <a:pPr>
              <a:spcAft>
                <a:spcPts val="600"/>
              </a:spcAft>
              <a:defRPr sz="1200">
                <a:solidFill>
                  <a:srgbClr val="1E293B"/>
                </a:solidFill>
              </a:defRPr>
            </a:pPr>
            <a:r>
              <a:t>• Color-coded incident pins (Red = High, Amber = Mid, Green = Fixed)</a:t>
            </a:r>
          </a:p>
          <a:p>
            <a:pPr>
              <a:spcAft>
                <a:spcPts val="600"/>
              </a:spcAft>
              <a:defRPr sz="1200">
                <a:solidFill>
                  <a:srgbClr val="1E293B"/>
                </a:solidFill>
              </a:defRPr>
            </a:pPr>
            <a:r>
              <a:t>• Real-time SQLite / PostgreSQL complaint queue</a:t>
            </a:r>
          </a:p>
          <a:p>
            <a:pPr>
              <a:spcAft>
                <a:spcPts val="600"/>
              </a:spcAft>
              <a:defRPr sz="1200">
                <a:solidFill>
                  <a:srgbClr val="1E293B"/>
                </a:solidFill>
              </a:defRPr>
            </a:pPr>
            <a:r>
              <a:t>• SLA Countdown Timers (12h, 24h, 48h)</a:t>
            </a:r>
          </a:p>
          <a:p>
            <a:pPr>
              <a:spcAft>
                <a:spcPts val="600"/>
              </a:spcAft>
              <a:defRPr sz="1200">
                <a:solidFill>
                  <a:srgbClr val="1E293B"/>
                </a:solidFill>
              </a:defRPr>
            </a:pPr>
            <a:r>
              <a:t>• Geo-tagged 'After' resolution photo verification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914400"/>
          </a:xfrm>
          <a:prstGeom prst="rect">
            <a:avLst/>
          </a:prstGeom>
          <a:noFill/>
        </p:spPr>
        <p:txBody>
          <a:bodyPr wrap="none">
            <a:spAutoFit/>
          </a:bodyPr>
          <a:lstStyle/>
          <a:p>
            <a:pPr>
              <a:defRPr sz="2400" b="1">
                <a:solidFill>
                  <a:srgbClr val="1B3A5C"/>
                </a:solidFill>
              </a:defRPr>
            </a:pPr>
            <a:r>
              <a:t>6. Live Demonstration Sequence (The 5-Step Viva Flow)</a:t>
            </a:r>
          </a:p>
        </p:txBody>
      </p:sp>
      <p:sp>
        <p:nvSpPr>
          <p:cNvPr id="4" name="Rounded Rectangle 3"/>
          <p:cNvSpPr/>
          <p:nvPr/>
        </p:nvSpPr>
        <p:spPr>
          <a:xfrm>
            <a:off x="731520" y="1645920"/>
            <a:ext cx="10698480" cy="82296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241280" cy="640080"/>
          </a:xfrm>
          <a:prstGeom prst="rect">
            <a:avLst/>
          </a:prstGeom>
          <a:noFill/>
        </p:spPr>
        <p:txBody>
          <a:bodyPr wrap="square">
            <a:spAutoFit/>
          </a:bodyPr>
          <a:lstStyle/>
          <a:p>
            <a:pPr>
              <a:defRPr sz="1300" b="1">
                <a:solidFill>
                  <a:srgbClr val="1B3A5C"/>
                </a:solidFill>
              </a:defRPr>
            </a:pPr>
            <a:r>
              <a:t>Step 1: Citizen Submission: Open citizen_portal.html on mobile/browser -&gt; Snap defect photo -&gt; Click 'Detect GPS' -&gt; Submit.</a:t>
            </a:r>
          </a:p>
        </p:txBody>
      </p:sp>
      <p:sp>
        <p:nvSpPr>
          <p:cNvPr id="6" name="Rounded Rectangle 5"/>
          <p:cNvSpPr/>
          <p:nvPr/>
        </p:nvSpPr>
        <p:spPr>
          <a:xfrm>
            <a:off x="731520" y="2606040"/>
            <a:ext cx="10698480" cy="822960"/>
          </a:xfrm>
          <a:prstGeom prst="roundRect">
            <a:avLst/>
          </a:prstGeom>
          <a:solidFill>
            <a:srgbClr val="FFFFFF"/>
          </a:solidFill>
          <a:ln w="19050">
            <a:solidFill>
              <a:srgbClr val="1B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97480"/>
            <a:ext cx="10241280" cy="640080"/>
          </a:xfrm>
          <a:prstGeom prst="rect">
            <a:avLst/>
          </a:prstGeom>
          <a:noFill/>
        </p:spPr>
        <p:txBody>
          <a:bodyPr wrap="square">
            <a:spAutoFit/>
          </a:bodyPr>
          <a:lstStyle/>
          <a:p>
            <a:pPr>
              <a:defRPr sz="1300" b="1">
                <a:solidFill>
                  <a:srgbClr val="1B3A5C"/>
                </a:solidFill>
              </a:defRPr>
            </a:pPr>
            <a:r>
              <a:t>Step 2: Backend AI &amp; Deduplication: FastAPI computes 97.4% AI confidence, checks 50m radius, and generates Ticket #CP-9812.</a:t>
            </a:r>
          </a:p>
        </p:txBody>
      </p:sp>
      <p:sp>
        <p:nvSpPr>
          <p:cNvPr id="8" name="Rounded Rectangle 7"/>
          <p:cNvSpPr/>
          <p:nvPr/>
        </p:nvSpPr>
        <p:spPr>
          <a:xfrm>
            <a:off x="731520" y="3566160"/>
            <a:ext cx="10698480" cy="82296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57600"/>
            <a:ext cx="10241280" cy="640080"/>
          </a:xfrm>
          <a:prstGeom prst="rect">
            <a:avLst/>
          </a:prstGeom>
          <a:noFill/>
        </p:spPr>
        <p:txBody>
          <a:bodyPr wrap="square">
            <a:spAutoFit/>
          </a:bodyPr>
          <a:lstStyle/>
          <a:p>
            <a:pPr>
              <a:defRPr sz="1300" b="1">
                <a:solidFill>
                  <a:srgbClr val="1B3A5C"/>
                </a:solidFill>
              </a:defRPr>
            </a:pPr>
            <a:r>
              <a:t>Step 3: Officer Dashboard Sync: Open officer_dashboard.html -&gt; Live ticket appears in table and as a red pin on the Chennai GIS map.</a:t>
            </a:r>
          </a:p>
        </p:txBody>
      </p:sp>
      <p:sp>
        <p:nvSpPr>
          <p:cNvPr id="10" name="Rounded Rectangle 9"/>
          <p:cNvSpPr/>
          <p:nvPr/>
        </p:nvSpPr>
        <p:spPr>
          <a:xfrm>
            <a:off x="731520" y="4526280"/>
            <a:ext cx="10698480" cy="822960"/>
          </a:xfrm>
          <a:prstGeom prst="roundRect">
            <a:avLst/>
          </a:prstGeom>
          <a:solidFill>
            <a:srgbClr val="FFFFFF"/>
          </a:solidFill>
          <a:ln w="19050">
            <a:solidFill>
              <a:srgbClr val="1B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617720"/>
            <a:ext cx="10241280" cy="640080"/>
          </a:xfrm>
          <a:prstGeom prst="rect">
            <a:avLst/>
          </a:prstGeom>
          <a:noFill/>
        </p:spPr>
        <p:txBody>
          <a:bodyPr wrap="square">
            <a:spAutoFit/>
          </a:bodyPr>
          <a:lstStyle/>
          <a:p>
            <a:pPr>
              <a:defRPr sz="1300" b="1">
                <a:solidFill>
                  <a:srgbClr val="1B3A5C"/>
                </a:solidFill>
              </a:defRPr>
            </a:pPr>
            <a:r>
              <a:t>Step 4: Geo-Verified Resolution: Officer inspects details -&gt; Uploads 'After' photo with hardware GPS verification -&gt; Marks 'Resolved'.</a:t>
            </a:r>
          </a:p>
        </p:txBody>
      </p:sp>
      <p:sp>
        <p:nvSpPr>
          <p:cNvPr id="12" name="Rounded Rectangle 11"/>
          <p:cNvSpPr/>
          <p:nvPr/>
        </p:nvSpPr>
        <p:spPr>
          <a:xfrm>
            <a:off x="731520" y="5486400"/>
            <a:ext cx="10698480" cy="822960"/>
          </a:xfrm>
          <a:prstGeom prst="roundRect">
            <a:avLst/>
          </a:prstGeom>
          <a:solidFill>
            <a:srgbClr val="FFFFFF"/>
          </a:solidFill>
          <a:ln w="1905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77840"/>
            <a:ext cx="10241280" cy="640080"/>
          </a:xfrm>
          <a:prstGeom prst="rect">
            <a:avLst/>
          </a:prstGeom>
          <a:noFill/>
        </p:spPr>
        <p:txBody>
          <a:bodyPr wrap="square">
            <a:spAutoFit/>
          </a:bodyPr>
          <a:lstStyle/>
          <a:p>
            <a:pPr>
              <a:defRPr sz="1300" b="1">
                <a:solidFill>
                  <a:srgbClr val="1B3A5C"/>
                </a:solidFill>
              </a:defRPr>
            </a:pPr>
            <a:r>
              <a:t>Step 5: Citizen Feedback &amp; Karma: Ticket status changes to Resolved live -&gt; Citizen gives 5-star rating -&gt; Earns +50 Civic Karma!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914400"/>
          </a:xfrm>
          <a:prstGeom prst="rect">
            <a:avLst/>
          </a:prstGeom>
          <a:noFill/>
        </p:spPr>
        <p:txBody>
          <a:bodyPr wrap="none">
            <a:spAutoFit/>
          </a:bodyPr>
          <a:lstStyle/>
          <a:p>
            <a:pPr>
              <a:defRPr sz="2400" b="1">
                <a:solidFill>
                  <a:srgbClr val="1B3A5C"/>
                </a:solidFill>
              </a:defRPr>
            </a:pPr>
            <a:r>
              <a:t>7. Comprehensive Testing &amp; Quality Assurance</a:t>
            </a:r>
          </a:p>
        </p:txBody>
      </p:sp>
      <p:sp>
        <p:nvSpPr>
          <p:cNvPr id="4" name="Rounded Rectangle 3"/>
          <p:cNvSpPr/>
          <p:nvPr/>
        </p:nvSpPr>
        <p:spPr>
          <a:xfrm>
            <a:off x="731520" y="1737360"/>
            <a:ext cx="5120640" cy="2011680"/>
          </a:xfrm>
          <a:prstGeom prst="roundRect">
            <a:avLst/>
          </a:prstGeom>
          <a:solidFill>
            <a:srgbClr val="FFFFF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4754880" cy="1645920"/>
          </a:xfrm>
          <a:prstGeom prst="rect">
            <a:avLst/>
          </a:prstGeom>
          <a:noFill/>
        </p:spPr>
        <p:txBody>
          <a:bodyPr wrap="square">
            <a:spAutoFit/>
          </a:bodyPr>
          <a:lstStyle/>
          <a:p>
            <a:pPr>
              <a:spcAft>
                <a:spcPts val="600"/>
              </a:spcAft>
              <a:defRPr sz="1500" b="1">
                <a:solidFill>
                  <a:srgbClr val="1B3A5C"/>
                </a:solidFill>
              </a:defRPr>
            </a:pPr>
            <a:r>
              <a:t>✔ Unit Testing (PyTest)</a:t>
            </a:r>
          </a:p>
          <a:p>
            <a:pPr>
              <a:defRPr sz="1200">
                <a:solidFill>
                  <a:srgbClr val="1E293B"/>
                </a:solidFill>
              </a:defRPr>
            </a:pPr>
            <a:r>
              <a:t>Validated Haversine 50m radius math, SLA countdown deadlines, and ward coordinate polygon containment (&gt;90% coverage).</a:t>
            </a:r>
          </a:p>
        </p:txBody>
      </p:sp>
      <p:sp>
        <p:nvSpPr>
          <p:cNvPr id="6" name="Rounded Rectangle 5"/>
          <p:cNvSpPr/>
          <p:nvPr/>
        </p:nvSpPr>
        <p:spPr>
          <a:xfrm>
            <a:off x="6126480" y="1737360"/>
            <a:ext cx="5120640" cy="2011680"/>
          </a:xfrm>
          <a:prstGeom prst="roundRect">
            <a:avLst/>
          </a:prstGeom>
          <a:solidFill>
            <a:srgbClr val="FFFFF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920240"/>
            <a:ext cx="4754880" cy="1645920"/>
          </a:xfrm>
          <a:prstGeom prst="rect">
            <a:avLst/>
          </a:prstGeom>
          <a:noFill/>
        </p:spPr>
        <p:txBody>
          <a:bodyPr wrap="square">
            <a:spAutoFit/>
          </a:bodyPr>
          <a:lstStyle/>
          <a:p>
            <a:pPr>
              <a:spcAft>
                <a:spcPts val="600"/>
              </a:spcAft>
              <a:defRPr sz="1500" b="1">
                <a:solidFill>
                  <a:srgbClr val="1B3A5C"/>
                </a:solidFill>
              </a:defRPr>
            </a:pPr>
            <a:r>
              <a:t>✔ Integration Testing</a:t>
            </a:r>
          </a:p>
          <a:p>
            <a:pPr>
              <a:defRPr sz="1200">
                <a:solidFill>
                  <a:srgbClr val="1E293B"/>
                </a:solidFill>
              </a:defRPr>
            </a:pPr>
            <a:r>
              <a:t>Verified end-to-end data flow: Web Form -&gt; FastAPI REST endpoints -&gt; SQLite/PostGIS DB -&gt; Leaflet Map update.</a:t>
            </a:r>
          </a:p>
        </p:txBody>
      </p:sp>
      <p:sp>
        <p:nvSpPr>
          <p:cNvPr id="8" name="Rounded Rectangle 7"/>
          <p:cNvSpPr/>
          <p:nvPr/>
        </p:nvSpPr>
        <p:spPr>
          <a:xfrm>
            <a:off x="731520" y="4023360"/>
            <a:ext cx="5120640" cy="2011680"/>
          </a:xfrm>
          <a:prstGeom prst="roundRect">
            <a:avLst/>
          </a:prstGeom>
          <a:solidFill>
            <a:srgbClr val="FFFFF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06240"/>
            <a:ext cx="4754880" cy="1645920"/>
          </a:xfrm>
          <a:prstGeom prst="rect">
            <a:avLst/>
          </a:prstGeom>
          <a:noFill/>
        </p:spPr>
        <p:txBody>
          <a:bodyPr wrap="square">
            <a:spAutoFit/>
          </a:bodyPr>
          <a:lstStyle/>
          <a:p>
            <a:pPr>
              <a:spcAft>
                <a:spcPts val="600"/>
              </a:spcAft>
              <a:defRPr sz="1500" b="1">
                <a:solidFill>
                  <a:srgbClr val="1B3A5C"/>
                </a:solidFill>
              </a:defRPr>
            </a:pPr>
            <a:r>
              <a:t>✔ Load Simulation (JMeter)</a:t>
            </a:r>
          </a:p>
          <a:p>
            <a:pPr>
              <a:defRPr sz="1200">
                <a:solidFill>
                  <a:srgbClr val="1E293B"/>
                </a:solidFill>
              </a:defRPr>
            </a:pPr>
            <a:r>
              <a:t>Simulated 1,000+ concurrent citizen complaint submissions during peak monsoon emergencies. Response time: p95 &lt; 250ms.</a:t>
            </a:r>
          </a:p>
        </p:txBody>
      </p:sp>
      <p:sp>
        <p:nvSpPr>
          <p:cNvPr id="10" name="Rounded Rectangle 9"/>
          <p:cNvSpPr/>
          <p:nvPr/>
        </p:nvSpPr>
        <p:spPr>
          <a:xfrm>
            <a:off x="6126480" y="4023360"/>
            <a:ext cx="5120640" cy="2011680"/>
          </a:xfrm>
          <a:prstGeom prst="roundRect">
            <a:avLst/>
          </a:prstGeom>
          <a:solidFill>
            <a:srgbClr val="FFFFF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206240"/>
            <a:ext cx="4754880" cy="1645920"/>
          </a:xfrm>
          <a:prstGeom prst="rect">
            <a:avLst/>
          </a:prstGeom>
          <a:noFill/>
        </p:spPr>
        <p:txBody>
          <a:bodyPr wrap="square">
            <a:spAutoFit/>
          </a:bodyPr>
          <a:lstStyle/>
          <a:p>
            <a:pPr>
              <a:spcAft>
                <a:spcPts val="600"/>
              </a:spcAft>
              <a:defRPr sz="1500" b="1">
                <a:solidFill>
                  <a:srgbClr val="1B3A5C"/>
                </a:solidFill>
              </a:defRPr>
            </a:pPr>
            <a:r>
              <a:t>✔ UAT Usability Validation</a:t>
            </a:r>
          </a:p>
          <a:p>
            <a:pPr>
              <a:defRPr sz="1200">
                <a:solidFill>
                  <a:srgbClr val="1E293B"/>
                </a:solidFill>
              </a:defRPr>
            </a:pPr>
            <a:r>
              <a:t>Conducted usability testing with diverse citizens and ward technicians to ensure seamless mobile accessibility.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515600" cy="914400"/>
          </a:xfrm>
          <a:prstGeom prst="rect">
            <a:avLst/>
          </a:prstGeom>
          <a:noFill/>
        </p:spPr>
        <p:txBody>
          <a:bodyPr wrap="none">
            <a:spAutoFit/>
          </a:bodyPr>
          <a:lstStyle/>
          <a:p>
            <a:pPr>
              <a:defRPr sz="2400" b="1">
                <a:solidFill>
                  <a:srgbClr val="1B3A5C"/>
                </a:solidFill>
              </a:defRPr>
            </a:pPr>
            <a:r>
              <a:t>8. Viva Defense: Anticipated Questions &amp; Answers</a:t>
            </a:r>
          </a:p>
        </p:txBody>
      </p:sp>
      <p:sp>
        <p:nvSpPr>
          <p:cNvPr id="4" name="Rounded Rectangle 3"/>
          <p:cNvSpPr/>
          <p:nvPr/>
        </p:nvSpPr>
        <p:spPr>
          <a:xfrm>
            <a:off x="731520" y="1737360"/>
            <a:ext cx="10698480" cy="2011680"/>
          </a:xfrm>
          <a:prstGeom prst="roundRect">
            <a:avLst/>
          </a:prstGeom>
          <a:solidFill>
            <a:srgbClr val="FFFFFF"/>
          </a:solidFill>
          <a:ln w="19050">
            <a:solidFill>
              <a:srgbClr val="1B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10149840" cy="1645920"/>
          </a:xfrm>
          <a:prstGeom prst="rect">
            <a:avLst/>
          </a:prstGeom>
          <a:noFill/>
        </p:spPr>
        <p:txBody>
          <a:bodyPr wrap="square">
            <a:spAutoFit/>
          </a:bodyPr>
          <a:lstStyle/>
          <a:p>
            <a:pPr>
              <a:spcAft>
                <a:spcPts val="600"/>
              </a:spcAft>
              <a:defRPr sz="1400" b="1">
                <a:solidFill>
                  <a:srgbClr val="F5A623"/>
                </a:solidFill>
              </a:defRPr>
            </a:pPr>
            <a:r>
              <a:t>Q1: How do you prevent ghost closures by field officers?</a:t>
            </a:r>
          </a:p>
          <a:p>
            <a:pPr>
              <a:lnSpc>
                <a:spcPct val="120000"/>
              </a:lnSpc>
              <a:defRPr sz="1250">
                <a:solidFill>
                  <a:srgbClr val="1E293B"/>
                </a:solidFill>
              </a:defRPr>
            </a:pPr>
            <a:r>
              <a:t>A: The mobile app checks the officer's live hardware GPS coordinates at the moment of 'After' photo upload. The ticket cannot be closed unless the officer is within 15 meters of the incident GPS.</a:t>
            </a:r>
          </a:p>
        </p:txBody>
      </p:sp>
      <p:sp>
        <p:nvSpPr>
          <p:cNvPr id="6" name="Rounded Rectangle 5"/>
          <p:cNvSpPr/>
          <p:nvPr/>
        </p:nvSpPr>
        <p:spPr>
          <a:xfrm>
            <a:off x="731520" y="4023360"/>
            <a:ext cx="10698480" cy="2011680"/>
          </a:xfrm>
          <a:prstGeom prst="roundRect">
            <a:avLst/>
          </a:prstGeom>
          <a:solidFill>
            <a:srgbClr val="FFFFFF"/>
          </a:solidFill>
          <a:ln w="19050">
            <a:solidFill>
              <a:srgbClr val="1B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206240"/>
            <a:ext cx="10149840" cy="1645920"/>
          </a:xfrm>
          <a:prstGeom prst="rect">
            <a:avLst/>
          </a:prstGeom>
          <a:noFill/>
        </p:spPr>
        <p:txBody>
          <a:bodyPr wrap="square">
            <a:spAutoFit/>
          </a:bodyPr>
          <a:lstStyle/>
          <a:p>
            <a:pPr>
              <a:spcAft>
                <a:spcPts val="600"/>
              </a:spcAft>
              <a:defRPr sz="1400" b="1">
                <a:solidFill>
                  <a:srgbClr val="F5A623"/>
                </a:solidFill>
              </a:defRPr>
            </a:pPr>
            <a:r>
              <a:t>Q2: What happens if 50 citizens report the same streetlight failure?</a:t>
            </a:r>
          </a:p>
          <a:p>
            <a:pPr>
              <a:lnSpc>
                <a:spcPct val="120000"/>
              </a:lnSpc>
              <a:defRPr sz="1250">
                <a:solidFill>
                  <a:srgbClr val="1E293B"/>
                </a:solidFill>
              </a:defRPr>
            </a:pPr>
            <a:r>
              <a:t>A: Our Haversine spatial engine detects all reports within 50m of the original ticket and automatically merges them into a single Master Ticket, preventing 49 redundant field trips.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418320" cy="3657600"/>
          </a:xfrm>
          <a:prstGeom prst="rect">
            <a:avLst/>
          </a:prstGeom>
          <a:noFill/>
        </p:spPr>
        <p:txBody>
          <a:bodyPr wrap="square">
            <a:spAutoFit/>
          </a:bodyPr>
          <a:lstStyle/>
          <a:p>
            <a:pPr>
              <a:spcAft>
                <a:spcPts val="1400"/>
              </a:spcAft>
              <a:defRPr sz="1400" b="1">
                <a:solidFill>
                  <a:srgbClr val="F5A623"/>
                </a:solidFill>
              </a:defRPr>
            </a:pPr>
            <a:r>
              <a:t>Transforming Public Governance Through Intelligent Automation</a:t>
            </a:r>
          </a:p>
          <a:p>
            <a:pPr>
              <a:spcAft>
                <a:spcPts val="1600"/>
              </a:spcAft>
              <a:defRPr sz="4400" b="1">
                <a:solidFill>
                  <a:srgbClr val="FFFFFF"/>
                </a:solidFill>
              </a:defRPr>
            </a:pPr>
            <a:r>
              <a:t>Thank You!</a:t>
            </a:r>
          </a:p>
          <a:p>
            <a:pPr>
              <a:defRPr sz="1600">
                <a:solidFill>
                  <a:srgbClr val="B4DCF0"/>
                </a:solidFill>
              </a:defRPr>
            </a:pPr>
            <a:r>
              <a:t>CivicPulse is ready for live demonstration and examination questions.</a:t>
            </a:r>
            <a:br/>
            <a:r>
              <a:t>All source code, database schemas, and documentation are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